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6957BA-989D-42D1-A21F-1D47E284AFFA}" v="2" dt="2026-06-19T07:34:48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77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jan Varma" userId="S::srijan.varma@hostbooks.com::33a61695-90b8-405d-9f68-eb8b5ef993bb" providerId="AD" clId="Web-{C16957BA-989D-42D1-A21F-1D47E284AFFA}"/>
    <pc:docChg chg="modSld">
      <pc:chgData name="Srijan Varma" userId="S::srijan.varma@hostbooks.com::33a61695-90b8-405d-9f68-eb8b5ef993bb" providerId="AD" clId="Web-{C16957BA-989D-42D1-A21F-1D47E284AFFA}" dt="2026-06-19T07:34:48.065" v="1" actId="1076"/>
      <pc:docMkLst>
        <pc:docMk/>
      </pc:docMkLst>
      <pc:sldChg chg="modSp">
        <pc:chgData name="Srijan Varma" userId="S::srijan.varma@hostbooks.com::33a61695-90b8-405d-9f68-eb8b5ef993bb" providerId="AD" clId="Web-{C16957BA-989D-42D1-A21F-1D47E284AFFA}" dt="2026-06-19T07:34:48.065" v="1" actId="1076"/>
        <pc:sldMkLst>
          <pc:docMk/>
          <pc:sldMk cId="0" sldId="258"/>
        </pc:sldMkLst>
        <pc:spChg chg="mod">
          <ac:chgData name="Srijan Varma" userId="S::srijan.varma@hostbooks.com::33a61695-90b8-405d-9f68-eb8b5ef993bb" providerId="AD" clId="Web-{C16957BA-989D-42D1-A21F-1D47E284AFFA}" dt="2026-06-19T07:34:48.065" v="1" actId="1076"/>
          <ac:spMkLst>
            <pc:docMk/>
            <pc:sldMk cId="0" sldId="258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96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F2FF1-A4DC-A6B5-4BCF-423835DE7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40E56-6358-2A16-6D6A-519DEF0AB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816B6-1DEB-63E6-471F-1A2A194AC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FCB3-85E3-202E-205D-0C5324980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EFCCC-E87B-BB64-7B27-1DB979C0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2031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CCB20-0549-AC9E-CB52-AC8D2DE4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15670-C43A-CDF8-0EFF-EC3BE9C79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FB8C-1B2E-10C9-C2E9-DBFDEBBB6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F541E-1129-CB9D-B7B2-C346177D1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79D6C-8F19-6A09-2937-7ED5D84C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7214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7295C-5310-E555-517D-8CB381AD5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8D5DC-E20A-3252-9C97-5A0704BF8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6FFAA-DD04-20DC-F274-40B0D688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80CAF-023C-5E56-9610-523A9738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08A2B-A66D-B07C-5781-A7826BA49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1656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C2A3-E062-2315-FB82-D10B653FC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B7AFE-FC5C-F4D0-0C5C-6F825C8E7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4F7C2-974D-B29F-3F40-FCB5EF39B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020C9-368E-C218-5EFF-B5131B02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0FD39-1E84-7023-F549-9DA134D58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EDFC5-0518-0925-17CD-16278EBD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8643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DD3D1-23C6-D6C0-2334-C91FF7FA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A54E0-D05D-6817-9EA7-43225751F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6B85B-2CDD-DFCB-537D-0A3157A3D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45FA4A-454E-9A00-193B-922269F31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A4A141-3938-75AB-D3B1-8873E5662F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04A2B5-51BA-9970-9015-0CCA979DB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949CA4-410C-ADFA-DAC5-0ABAD1905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D94979-BD73-15D1-20ED-26D97FDDF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96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E36A7-7586-AB1C-FC85-349F983E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85C4F2-76B2-1389-0B92-FEA9B8035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9CF1E-A603-55FD-20C9-61EA2EBC7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D8CE8-FA07-9995-5E34-8D7DE446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3882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D80F51-6DEB-3EE4-07E2-1A573A557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A416E7-2C84-76B7-7494-F7BC577E1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F3912-486E-1565-F1DD-B1CE44ED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78601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E52D3-1B92-A86F-59B0-A8D345E0B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6B1A8-2F9B-7CB9-3494-0E2BB05E0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DD86F-B282-318C-208C-19D2840AA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000B9-BF0E-3A03-617F-223D2E76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84D38-E234-D37A-C689-73AF72712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FADD7-1B50-FDEE-3DAD-BB5307600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895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9143-6A7D-D6EC-2CFF-5FD811CD3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89FBE5-6107-2501-6260-1128B1C09E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ADEB3-2A4F-6336-C4B8-82CF0DB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DE6F3-0B02-DC44-7449-90EBD4182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A2875-36D1-4B80-484E-1CC196BB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CDEE4-3ADD-B843-FE83-627B063F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450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E5E89-A103-7C5E-574F-BEB463A7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90AFC-F583-89FA-3906-2B30434A0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98E5C-1924-F872-DEC4-D027A8A0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84CDE-C255-8F61-1FAD-0DC819DB9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45083-5203-1233-C911-7117CBA2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3208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702D54-4748-A208-FE2A-DEDE4804D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6683CE-AF3D-2A94-99EB-9B70F8896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73839-01FE-9823-A484-5A8064B0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1430D-DB5F-99BC-6772-D3B1159F1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250E0-B5E7-2672-011D-087B7074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18850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447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BD87A-77CE-9293-68CA-01C150A39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90A90-4975-37BC-60E8-5BE1326AC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B1964-D1B8-2201-86AE-34869A8D2B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AEF1A-2FEF-0246-E136-F72B0CAFB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BD755-B577-277D-D49D-E0D349BE1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213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PROGRAM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475488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Guide for Sales, Solution &amp; Referral Partners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75488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your business with the world's first Autonomous Agentic ERP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</a:t>
            </a:r>
            <a:endParaRPr lang="en-US" sz="900" dirty="0"/>
          </a:p>
        </p:txBody>
      </p:sp>
      <p:pic>
        <p:nvPicPr>
          <p:cNvPr id="1026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34DB2B59-40A9-2D79-BEF6-14A60AFE6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662" y="241853"/>
            <a:ext cx="4137286" cy="101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proven, global ERP platform — now powered by autonomous AI agents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1783080"/>
            <a:ext cx="731520" cy="731520"/>
          </a:xfrm>
          <a:prstGeom prst="ellipse">
            <a:avLst/>
          </a:prstGeom>
          <a:solidFill>
            <a:srgbClr val="1C8CCC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965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94360" y="3291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ERP in the world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587752" y="155448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27832" y="1783080"/>
            <a:ext cx="731520" cy="731520"/>
          </a:xfrm>
          <a:prstGeom prst="ellipse">
            <a:avLst/>
          </a:prstGeom>
          <a:solidFill>
            <a:srgbClr val="1C8CCC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ic_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19659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87752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2724912" y="3291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ERP since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718304" y="155448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358384" y="1783080"/>
            <a:ext cx="731520" cy="731520"/>
          </a:xfrm>
          <a:prstGeom prst="ellipse">
            <a:avLst/>
          </a:prstGeom>
          <a:solidFill>
            <a:srgbClr val="1C8CCC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_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264" y="19659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18304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14+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4855464" y="3291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with presence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848856" y="155448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488936" y="1783080"/>
            <a:ext cx="731520" cy="731520"/>
          </a:xfrm>
          <a:prstGeom prst="ellipse">
            <a:avLst/>
          </a:prstGeom>
          <a:solidFill>
            <a:srgbClr val="1C8CCC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ic_te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1816" y="19659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48856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8,000+</a:t>
            </a:r>
            <a:endParaRPr lang="en-US" sz="3800" dirty="0"/>
          </a:p>
        </p:txBody>
      </p:sp>
      <p:sp>
        <p:nvSpPr>
          <p:cNvPr id="23" name="Text 17"/>
          <p:cNvSpPr/>
          <p:nvPr/>
        </p:nvSpPr>
        <p:spPr>
          <a:xfrm>
            <a:off x="6986016" y="3291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across India&lt; UAE  &amp; US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365760" y="4736592"/>
            <a:ext cx="841248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36576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8288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 Information may be subject to change</a:t>
            </a:r>
            <a:endParaRPr lang="en-US" sz="850" dirty="0"/>
          </a:p>
        </p:txBody>
      </p:sp>
      <p:pic>
        <p:nvPicPr>
          <p:cNvPr id="28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33756420-F6AB-BB8E-04D6-524B20F85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16" y="40686"/>
            <a:ext cx="2030730" cy="4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Partner With HostBooks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high-margin, recurring-revenue opportunity in a growing market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545336"/>
            <a:ext cx="512064" cy="512064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63" y="1668231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Lucrative recurring income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801368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high first-year commissions plus recurring payouts on every renewal — your income compounds year over year.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249424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8368" y="2377440"/>
            <a:ext cx="512064" cy="512064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ic_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63" y="250033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340864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 differentiator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2633472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the first Autonomous Agentic ERP. AP agents that work 24×7 give you a story no competitor can match.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081528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8368" y="3209544"/>
            <a:ext cx="512064" cy="512064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_modu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263" y="3332439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172968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many deals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3465576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 integrated modules across 5 industries means more upsell, cross-sell and stickier customers.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913632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8368" y="4041648"/>
            <a:ext cx="512064" cy="512064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ic_supp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263" y="4164543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005072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enable, you scale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371600" y="429768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demo access, co-branded marketing and a dedicated partner manager — we invest in your success.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65760" y="4736592"/>
            <a:ext cx="841248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36576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8288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 Information may be subject to change</a:t>
            </a:r>
            <a:endParaRPr lang="en-US" sz="850" dirty="0"/>
          </a:p>
        </p:txBody>
      </p:sp>
      <p:pic>
        <p:nvPicPr>
          <p:cNvPr id="28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292B2EB2-C019-80A8-F763-CB1613F9A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16" y="40686"/>
            <a:ext cx="2030730" cy="4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HostBooks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the platform easy to sell and easy to love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48640" cy="54864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2" y="17958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249424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Agentic ERP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2505456"/>
            <a:ext cx="2313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handle invoices, validation &amp; reconciliation 24×7.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32404" y="146304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33572" y="1664208"/>
            <a:ext cx="548640" cy="54864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ic_modu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5246" y="179588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33572" y="2249424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Integrated Modules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33572" y="2505456"/>
            <a:ext cx="2313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Finance, SCM, Manufacturing, CRM, BI and more in one suite.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07608" y="146304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208776" y="1664208"/>
            <a:ext cx="548640" cy="54864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_indust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450" y="179588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08776" y="2249424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Industry Solutions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08776" y="2505456"/>
            <a:ext cx="2313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for Hotels, F&amp;B, Manufacturing, Retail &amp; Construction.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3026664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8368" y="3227832"/>
            <a:ext cx="548640" cy="54864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ic_mon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42" y="335950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8368" y="381304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35–55% Lower TCO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58368" y="4069080"/>
            <a:ext cx="2313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capability at a fraction of SAP, Oracle &amp; Dynamics cost.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32404" y="3026664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433572" y="3227832"/>
            <a:ext cx="548640" cy="54864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ic_glo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5246" y="335950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33572" y="381304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Multi-Country &amp; Currency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33572" y="4069080"/>
            <a:ext cx="2313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consolidation across multiple legal entities and geographies.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07608" y="3026664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208776" y="3227832"/>
            <a:ext cx="548640" cy="54864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assets/ic_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450" y="335950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08776" y="381304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Security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08776" y="4069080"/>
            <a:ext cx="2313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SOC-compliant controls, access management and audit trails.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365760" y="4736592"/>
            <a:ext cx="841248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36576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8288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 Information may be subject to change</a:t>
            </a:r>
            <a:endParaRPr lang="en-US" sz="850" dirty="0"/>
          </a:p>
        </p:txBody>
      </p:sp>
      <p:pic>
        <p:nvPicPr>
          <p:cNvPr id="38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D50BE181-4D59-E813-E5EC-A82D965ED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16" y="40686"/>
            <a:ext cx="2030730" cy="4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Ecosystem to Sell Into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presence, partners and demand across three continents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640080" cy="64008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t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" y="18909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1907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85800" y="248716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across the globe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64408" y="15087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93008" y="1737360"/>
            <a:ext cx="640080" cy="64008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ic_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6627" y="18909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78808" y="171907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14+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3493008" y="248716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served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71616" y="15087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00216" y="1737360"/>
            <a:ext cx="640080" cy="64008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_indust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3835" y="18909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86016" y="171907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6300216" y="248716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Offices (Direct/Indirect)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5760" y="4736592"/>
            <a:ext cx="841248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36576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8288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 Information may be subject to change</a:t>
            </a:r>
            <a:endParaRPr lang="en-US" sz="850" dirty="0"/>
          </a:p>
        </p:txBody>
      </p:sp>
      <p:pic>
        <p:nvPicPr>
          <p:cNvPr id="24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AB2BACD-97A5-39FD-E49C-47038CB3D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16" y="40686"/>
            <a:ext cx="2030730" cy="4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Partner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model that fits your strengths — or combine them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691640"/>
            <a:ext cx="822960" cy="822960"/>
          </a:xfrm>
          <a:prstGeom prst="ellipse">
            <a:avLst/>
          </a:prstGeom>
          <a:solidFill>
            <a:srgbClr val="1C8CCC">
              <a:alpha val="9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s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340" y="18973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Partner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9992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full sales cycle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lead generation through to closing the deal.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64408" y="14173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78808" y="1691640"/>
            <a:ext cx="822960" cy="822960"/>
          </a:xfrm>
          <a:prstGeom prst="ellipse">
            <a:avLst/>
          </a:prstGeom>
          <a:solidFill>
            <a:srgbClr val="1C8CCC">
              <a:alpha val="9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assets/ic_sol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548" y="18973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64408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Partner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264408" y="29992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Sells &amp; implements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93008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the sale and delivers implementation &amp; onboarding.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71616" y="14173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86016" y="1691640"/>
            <a:ext cx="822960" cy="822960"/>
          </a:xfrm>
          <a:prstGeom prst="ellipse">
            <a:avLst/>
          </a:prstGeom>
          <a:solidFill>
            <a:srgbClr val="1C8CCC">
              <a:alpha val="9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assets/ic_refer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1756" y="18973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71616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Partner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071616" y="29992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Introduces opportunities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00216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Refers qualified leads; HostBooks closes and delivers.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65760" y="4736592"/>
            <a:ext cx="841248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36576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8288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 Information may be subject to change</a:t>
            </a:r>
            <a:endParaRPr lang="en-US" sz="850" dirty="0"/>
          </a:p>
        </p:txBody>
      </p:sp>
      <p:pic>
        <p:nvPicPr>
          <p:cNvPr id="26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74FEB1C-8C99-9209-EE96-5289E2660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16" y="40686"/>
            <a:ext cx="2030730" cy="4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Roles &amp;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 at every stage of the customer journey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530352" cy="530352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s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52" y="1681764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5910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Partner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13232" y="2212848"/>
            <a:ext cx="21945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and qualify leads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pitch HostBooks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 and close the sale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by Solution Partner 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6656" y="40416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for: sales-led agencies &amp; consultants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64408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65576" y="1554480"/>
            <a:ext cx="530352" cy="530352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assets/ic_sol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860" y="1681764"/>
            <a:ext cx="275783" cy="2757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05656" y="15910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Partner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520440" y="2212848"/>
            <a:ext cx="21945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and close deals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implementation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&amp; configure clients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first-line support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83864" y="40416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for: SIs, CA firms &amp; IT service providers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71616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272784" y="1554480"/>
            <a:ext cx="530352" cy="530352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assets/ic_refer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068" y="1681764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12864" y="15910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Partner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327648" y="2212848"/>
            <a:ext cx="21945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qualified leads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handover to HostBooks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HostBooks sells &amp; delivers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on first-year deals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91072" y="40416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for: advisors &amp; influencers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4736592"/>
            <a:ext cx="841248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36576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8288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 Information may be subject to change</a:t>
            </a:r>
            <a:endParaRPr lang="en-US" sz="850" dirty="0"/>
          </a:p>
        </p:txBody>
      </p:sp>
      <p:pic>
        <p:nvPicPr>
          <p:cNvPr id="26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5B31DF1-B7C0-BA37-CAD7-66B725E19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16" y="40686"/>
            <a:ext cx="2030730" cy="4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that grows with the relationship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788920"/>
          </a:xfrm>
          <a:prstGeom prst="roundRect">
            <a:avLst>
              <a:gd name="adj" fmla="val 27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35608" y="1536192"/>
            <a:ext cx="694944" cy="694944"/>
          </a:xfrm>
          <a:prstGeom prst="ellipse">
            <a:avLst/>
          </a:prstGeom>
          <a:solidFill>
            <a:srgbClr val="1C8CCC">
              <a:alpha val="96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s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344" y="17099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Partner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6700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1188720" y="3584448"/>
            <a:ext cx="118872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onwards   </a:t>
            </a:r>
            <a:r>
              <a:rPr lang="en-US" sz="1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64408" y="1371600"/>
            <a:ext cx="2651760" cy="2788920"/>
          </a:xfrm>
          <a:prstGeom prst="roundRect">
            <a:avLst>
              <a:gd name="adj" fmla="val 27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42816" y="1536192"/>
            <a:ext cx="694944" cy="694944"/>
          </a:xfrm>
          <a:prstGeom prst="ellipse">
            <a:avLst/>
          </a:prstGeom>
          <a:solidFill>
            <a:srgbClr val="1273A8">
              <a:alpha val="96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assets/ic_sol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170992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64408" y="2286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Partner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264408" y="26700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264408" y="2834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3995928" y="3584448"/>
            <a:ext cx="118872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264408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onwards   </a:t>
            </a:r>
            <a:r>
              <a:rPr lang="en-US" sz="1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71616" y="1371600"/>
            <a:ext cx="2651760" cy="2788920"/>
          </a:xfrm>
          <a:prstGeom prst="roundRect">
            <a:avLst>
              <a:gd name="adj" fmla="val 275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050024" y="1536192"/>
            <a:ext cx="694944" cy="694944"/>
          </a:xfrm>
          <a:prstGeom prst="ellipse">
            <a:avLst/>
          </a:prstGeom>
          <a:solidFill>
            <a:srgbClr val="2A6E94">
              <a:alpha val="96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assets/ic_refer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709928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71616" y="2286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Partner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071616" y="26700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071616" y="2834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4600" dirty="0"/>
          </a:p>
        </p:txBody>
      </p:sp>
      <p:sp>
        <p:nvSpPr>
          <p:cNvPr id="26" name="Shape 21"/>
          <p:cNvSpPr/>
          <p:nvPr/>
        </p:nvSpPr>
        <p:spPr>
          <a:xfrm>
            <a:off x="6803136" y="3584448"/>
            <a:ext cx="118872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071616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onwards   </a:t>
            </a:r>
            <a:r>
              <a:rPr lang="en-US" sz="1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42611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is calculated on net subscription / contract value. First-year rates apply to new customer acquisition; subsequent-year rates apply on renewals.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365760" y="4736592"/>
            <a:ext cx="841248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36576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8288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 Information may be subject to change</a:t>
            </a:r>
            <a:endParaRPr lang="en-US" sz="850" dirty="0"/>
          </a:p>
        </p:txBody>
      </p:sp>
      <p:pic>
        <p:nvPicPr>
          <p:cNvPr id="33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56FA2196-2C6F-493F-E6A4-00F3D79F9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16" y="40686"/>
            <a:ext cx="2030730" cy="4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as a Partner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to win, deliver and grow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48640" cy="54864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2" y="17958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249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Commissions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250545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first-year + ongoing renewal payouts.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32404" y="146304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33572" y="1664208"/>
            <a:ext cx="548640" cy="54864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ic_br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5246" y="179588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33572" y="2249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Co-Branded Marketing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33572" y="250545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Campaigns, collateral &amp; event support.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07608" y="146304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208776" y="1664208"/>
            <a:ext cx="548640" cy="54864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_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450" y="179588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08776" y="2249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 Sharing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08776" y="250545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route inbound leads to active partners.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3026664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8368" y="3227832"/>
            <a:ext cx="548640" cy="54864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ic_ce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42" y="335950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8368" y="3813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Certification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58368" y="406908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Train-the-trainer program &amp; accreditation.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32404" y="3026664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433572" y="3227832"/>
            <a:ext cx="548640" cy="54864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ic_te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5246" y="335950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33572" y="3813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Partner Manager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33572" y="406908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point of contact for your success.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07608" y="3026664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208776" y="3227832"/>
            <a:ext cx="548640" cy="548640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assets/ic_clou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450" y="335950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08776" y="3813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Sandbox Access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08776" y="406908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environments to showcase the product.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365760" y="4736592"/>
            <a:ext cx="841248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36576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8288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 Information may be subject to change</a:t>
            </a:r>
            <a:endParaRPr lang="en-US" sz="850" dirty="0"/>
          </a:p>
        </p:txBody>
      </p:sp>
      <p:pic>
        <p:nvPicPr>
          <p:cNvPr id="38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87E19A8-A758-FBCF-8CC9-B4909F9BD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16" y="40686"/>
            <a:ext cx="2030730" cy="4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Enablement &amp; Support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just sign you up — we set you up to win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6656" y="1682496"/>
            <a:ext cx="566928" cy="566928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trai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19" y="181855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642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Onboarding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202996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ramp-up covering product, pricing, positioning and the sales playbook.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82896" y="1682496"/>
            <a:ext cx="566928" cy="566928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ic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959" y="181855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6642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Enablement Kits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623560" y="202996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decks, battlecards vs. SAP / Oracle / Zoho, ROI calculators and proposals.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026664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76656" y="3246120"/>
            <a:ext cx="566928" cy="566928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_sup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19" y="338218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278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Support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59359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guidance, solution-architecture help and escalation paths.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026664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82896" y="3246120"/>
            <a:ext cx="566928" cy="566928"/>
          </a:xfrm>
          <a:prstGeom prst="ellipse">
            <a:avLst/>
          </a:prstGeom>
          <a:solidFill>
            <a:srgbClr val="1C8CCC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ic_bra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8959" y="338218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2278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Support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623560" y="359359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Co-branded assets, lead-gen campaigns and joint event participation.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65760" y="4736592"/>
            <a:ext cx="841248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36576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8288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 Information may be subject to change</a:t>
            </a:r>
            <a:endParaRPr lang="en-US" sz="850" dirty="0"/>
          </a:p>
        </p:txBody>
      </p:sp>
      <p:pic>
        <p:nvPicPr>
          <p:cNvPr id="28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DE185FA-6F66-8055-7601-1DE8C5391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16" y="40686"/>
            <a:ext cx="2030730" cy="4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Onboarding Journey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application to first commission — typically within weeks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80160" y="2788920"/>
            <a:ext cx="6583680" cy="0"/>
          </a:xfrm>
          <a:prstGeom prst="line">
            <a:avLst/>
          </a:prstGeom>
          <a:noFill/>
          <a:ln w="15875">
            <a:solidFill>
              <a:srgbClr val="7FC4E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914400" cy="914400"/>
          </a:xfrm>
          <a:prstGeom prst="ellipse">
            <a:avLst/>
          </a:prstGeom>
          <a:solidFill>
            <a:srgbClr val="1C8CCC"/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app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569464"/>
            <a:ext cx="402336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81328" y="2258568"/>
            <a:ext cx="384048" cy="38404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481328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3558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368503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interest &amp; sign the partner agreement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2331720"/>
            <a:ext cx="914400" cy="914400"/>
          </a:xfrm>
          <a:prstGeom prst="ellipse">
            <a:avLst/>
          </a:prstGeom>
          <a:solidFill>
            <a:srgbClr val="1C8CCC"/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assets/ic_on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912" y="2569464"/>
            <a:ext cx="402336" cy="40233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127248" y="2258568"/>
            <a:ext cx="384048" cy="38404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127248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103120" y="33558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148840" y="368503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KYC, account setup &amp; partner portal access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114800" y="2331720"/>
            <a:ext cx="914400" cy="914400"/>
          </a:xfrm>
          <a:prstGeom prst="ellipse">
            <a:avLst/>
          </a:prstGeom>
          <a:solidFill>
            <a:srgbClr val="1C8CCC"/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assets/ic_en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2569464"/>
            <a:ext cx="402336" cy="40233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773168" y="2258568"/>
            <a:ext cx="384048" cy="38404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4773168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749040" y="33558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Enabled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794760" y="368503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sales &amp; technical training + certification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760720" y="2331720"/>
            <a:ext cx="914400" cy="914400"/>
          </a:xfrm>
          <a:prstGeom prst="ellipse">
            <a:avLst/>
          </a:prstGeom>
          <a:solidFill>
            <a:srgbClr val="1C8CCC"/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assets/ic_lau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2569464"/>
            <a:ext cx="402336" cy="40233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419088" y="2258568"/>
            <a:ext cx="384048" cy="38404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419088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394960" y="33558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440680" y="368503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demos, leads &amp; start pitching customers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406640" y="2331720"/>
            <a:ext cx="914400" cy="914400"/>
          </a:xfrm>
          <a:prstGeom prst="ellipse">
            <a:avLst/>
          </a:prstGeom>
          <a:solidFill>
            <a:srgbClr val="1C8CCC"/>
          </a:solidFill>
          <a:ln w="12700">
            <a:solidFill>
              <a:srgbClr val="FFFFFF">
                <a:alpha val="60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4" descr="assets/ic_ear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2672" y="2569464"/>
            <a:ext cx="402336" cy="40233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065008" y="2258568"/>
            <a:ext cx="384048" cy="38404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8065008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7040880" y="33558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&amp; Grow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7086600" y="368503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deals, get paid &amp; unlock higher tiers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365760" y="4736592"/>
            <a:ext cx="841248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36576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8288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 Information may be subject to change</a:t>
            </a:r>
            <a:endParaRPr lang="en-US" sz="850" dirty="0"/>
          </a:p>
        </p:txBody>
      </p:sp>
      <p:pic>
        <p:nvPicPr>
          <p:cNvPr id="39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9FCF515-02F5-0727-4F95-BEBE0A80F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16" y="40686"/>
            <a:ext cx="2030730" cy="4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Be Selling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suite — more modules and industries mean more deals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Modules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700784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7FC4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Management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67712" y="1755648"/>
            <a:ext cx="110093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7FC4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67712" y="1755648"/>
            <a:ext cx="11009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8378" y="1755648"/>
            <a:ext cx="117591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7FC4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8378" y="1755648"/>
            <a:ext cx="117591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1475842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7FC4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176272"/>
            <a:ext cx="147584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42770" y="2176272"/>
            <a:ext cx="1550822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7FC4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42770" y="2176272"/>
            <a:ext cx="15508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03320" y="2176272"/>
            <a:ext cx="875995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7FC4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03320" y="2176272"/>
            <a:ext cx="8759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1775765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7FC4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596896"/>
            <a:ext cx="177576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42693" y="2596896"/>
            <a:ext cx="1475842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7FC4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42693" y="2596896"/>
            <a:ext cx="147584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Risk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950976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7FC4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017520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517904" y="3017520"/>
            <a:ext cx="117591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7FC4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517904" y="3017520"/>
            <a:ext cx="117591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Mgmt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03550" y="3017520"/>
            <a:ext cx="117591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7FC4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03550" y="3017520"/>
            <a:ext cx="117591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Management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Solutions For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178308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38928" y="1847088"/>
            <a:ext cx="329184" cy="329184"/>
          </a:xfrm>
          <a:prstGeom prst="ellipse">
            <a:avLst/>
          </a:prstGeom>
          <a:solidFill>
            <a:srgbClr val="1C8CCC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0" descr="assets/ic_indus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994" y="1921154"/>
            <a:ext cx="181051" cy="181051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577840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029200" y="233172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138928" y="2395728"/>
            <a:ext cx="329184" cy="329184"/>
          </a:xfrm>
          <a:prstGeom prst="ellipse">
            <a:avLst/>
          </a:prstGeom>
          <a:solidFill>
            <a:srgbClr val="1C8CCC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1" descr="assets/ic_indus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994" y="2469794"/>
            <a:ext cx="181051" cy="181051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577840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 &amp; Cafés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5029200" y="28803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5138928" y="2944368"/>
            <a:ext cx="329184" cy="329184"/>
          </a:xfrm>
          <a:prstGeom prst="ellipse">
            <a:avLst/>
          </a:prstGeom>
          <a:solidFill>
            <a:srgbClr val="1C8CCC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2" descr="assets/ic_indus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994" y="3018434"/>
            <a:ext cx="181051" cy="181051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577840" y="2880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5029200" y="342900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5138928" y="3493008"/>
            <a:ext cx="329184" cy="329184"/>
          </a:xfrm>
          <a:prstGeom prst="ellipse">
            <a:avLst/>
          </a:prstGeom>
          <a:solidFill>
            <a:srgbClr val="1C8CCC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3" descr="assets/ic_indus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994" y="3567074"/>
            <a:ext cx="181051" cy="181051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577840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&amp; Distribution</a:t>
            </a:r>
            <a:endParaRPr lang="en-US" sz="1150" dirty="0"/>
          </a:p>
        </p:txBody>
      </p:sp>
      <p:sp>
        <p:nvSpPr>
          <p:cNvPr id="44" name="Shape 38"/>
          <p:cNvSpPr/>
          <p:nvPr/>
        </p:nvSpPr>
        <p:spPr>
          <a:xfrm>
            <a:off x="5029200" y="397764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5138928" y="4041648"/>
            <a:ext cx="329184" cy="329184"/>
          </a:xfrm>
          <a:prstGeom prst="ellipse">
            <a:avLst/>
          </a:prstGeom>
          <a:solidFill>
            <a:srgbClr val="1C8CCC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4" descr="assets/ic_indus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994" y="4115714"/>
            <a:ext cx="181051" cy="181051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577840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Construction</a:t>
            </a:r>
            <a:endParaRPr lang="en-US" sz="1150" dirty="0"/>
          </a:p>
        </p:txBody>
      </p:sp>
      <p:sp>
        <p:nvSpPr>
          <p:cNvPr id="48" name="Shape 41"/>
          <p:cNvSpPr/>
          <p:nvPr/>
        </p:nvSpPr>
        <p:spPr>
          <a:xfrm>
            <a:off x="365760" y="4736592"/>
            <a:ext cx="841248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36576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18288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 Information may be subject to change</a:t>
            </a:r>
            <a:endParaRPr lang="en-US" sz="850" dirty="0"/>
          </a:p>
        </p:txBody>
      </p:sp>
      <p:pic>
        <p:nvPicPr>
          <p:cNvPr id="52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DFCBA128-59D7-C11F-9DE3-1FE73045E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16" y="40686"/>
            <a:ext cx="2030730" cy="4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Shape 23">
            <a:extLst>
              <a:ext uri="{FF2B5EF4-FFF2-40B4-BE49-F238E27FC236}">
                <a16:creationId xmlns:a16="http://schemas.microsoft.com/office/drawing/2014/main" id="{79118D6C-1950-8CC8-EFD3-494B2E70E4B7}"/>
              </a:ext>
            </a:extLst>
          </p:cNvPr>
          <p:cNvSpPr/>
          <p:nvPr/>
        </p:nvSpPr>
        <p:spPr>
          <a:xfrm>
            <a:off x="1454810" y="3503676"/>
            <a:ext cx="1913839" cy="355092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6350">
            <a:solidFill>
              <a:srgbClr val="7FC4EC">
                <a:alpha val="45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sz="9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And Many More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a HostBooks Partner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simple steps to start earning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6656" y="1572768"/>
            <a:ext cx="512064" cy="512064"/>
          </a:xfrm>
          <a:prstGeom prst="ellipse">
            <a:avLst/>
          </a:prstGeom>
          <a:solidFill>
            <a:srgbClr val="1C8CCC">
              <a:alpha val="9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app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" y="1695663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5544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Express Interest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6656" y="21214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out to our partnerships team.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4408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83864" y="1572768"/>
            <a:ext cx="512064" cy="512064"/>
          </a:xfrm>
          <a:prstGeom prst="ellipse">
            <a:avLst/>
          </a:prstGeom>
          <a:solidFill>
            <a:srgbClr val="1C8CCC">
              <a:alpha val="9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ic_on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6759" y="1695663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05656" y="15544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Sign &amp; Onboard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83864" y="21214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agreement &amp; setup.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71616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1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291072" y="1572768"/>
            <a:ext cx="512064" cy="512064"/>
          </a:xfrm>
          <a:prstGeom prst="ellipse">
            <a:avLst/>
          </a:prstGeom>
          <a:solidFill>
            <a:srgbClr val="1C8CCC">
              <a:alpha val="9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_ea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3967" y="169566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12864" y="15544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Start Selling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91072" y="21214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enabled and close your first deal.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1C8CCC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assets/ic_p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" y="3145536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349300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Nimai Tower, 412-415, Udyog Vihar Phase 4, Gurugram, Haryana 122016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64408" y="3063240"/>
            <a:ext cx="365760" cy="365760"/>
          </a:xfrm>
          <a:prstGeom prst="ellipse">
            <a:avLst/>
          </a:prstGeom>
          <a:solidFill>
            <a:srgbClr val="1C8CCC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assets/ic_p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704" y="3145536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721608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264408" y="349300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29-31 Office Number, 10th Floor, Ibn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Batuta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Gate Offices, Jebel Ali - Dubai - United Arab Emirates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6071616" y="3063240"/>
            <a:ext cx="365760" cy="365760"/>
          </a:xfrm>
          <a:prstGeom prst="ellipse">
            <a:avLst/>
          </a:prstGeom>
          <a:solidFill>
            <a:srgbClr val="1C8CCC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assets/ic_p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3145536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28816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071616" y="349300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Promenade Cir. Ste 300, Sacramento, CA 95834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365760" y="4736592"/>
            <a:ext cx="841248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36576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8288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 Information may be subject to change</a:t>
            </a:r>
            <a:endParaRPr lang="en-US" sz="850" dirty="0"/>
          </a:p>
        </p:txBody>
      </p:sp>
      <p:pic>
        <p:nvPicPr>
          <p:cNvPr id="35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511E4EA2-2056-FF58-4646-4AC05AA46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16" y="40686"/>
            <a:ext cx="2030730" cy="49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7FC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grow together.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2025, HostBooks. All rights reserved.</a:t>
            </a:r>
            <a:endParaRPr lang="en-US" sz="900" dirty="0"/>
          </a:p>
        </p:txBody>
      </p:sp>
      <p:pic>
        <p:nvPicPr>
          <p:cNvPr id="6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9D50290D-D8DD-8070-0584-EF667CDE1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735" y="491026"/>
            <a:ext cx="3486541" cy="85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1099</Words>
  <Application>Microsoft Office PowerPoint</Application>
  <PresentationFormat>On-screen Show (16:9)</PresentationFormat>
  <Paragraphs>209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HostBooks Partner Program</dc:title>
  <dc:subject>PptxGenJS Presentation</dc:subject>
  <dc:creator>HostBooks</dc:creator>
  <cp:lastModifiedBy>Biswajit Mishra</cp:lastModifiedBy>
  <cp:revision>5</cp:revision>
  <dcterms:created xsi:type="dcterms:W3CDTF">2026-06-12T14:34:47Z</dcterms:created>
  <dcterms:modified xsi:type="dcterms:W3CDTF">2026-06-19T07:34:48Z</dcterms:modified>
</cp:coreProperties>
</file>