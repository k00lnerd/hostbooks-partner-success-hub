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0891B2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0891B2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2926080"/>
            <a:ext cx="3657600" cy="3657600"/>
          </a:xfrm>
          <a:prstGeom prst="ellipse">
            <a:avLst/>
          </a:prstGeom>
          <a:solidFill>
            <a:srgbClr val="22D3EE">
              <a:alpha val="94000"/>
            </a:srgbClr>
          </a:solidFill>
          <a:ln/>
        </p:spPr>
      </p:sp>
      <p:pic>
        <p:nvPicPr>
          <p:cNvPr id="7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HOSTBOOKS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600" kern="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 ERP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Intelligent Automation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606040"/>
            <a:ext cx="7315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788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your business, amplify your success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1520" y="3520440"/>
            <a:ext cx="2377440" cy="45720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Platform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Core + 3 Add-Ons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3520440"/>
            <a:ext cx="2377440" cy="45720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Hybrid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Overview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Overview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594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Core Modules + 3 Specialized Add-Ons. One AI-Driven Platform.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005840"/>
            <a:ext cx="13258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5"/>
          <p:cNvSpPr/>
          <p:nvPr/>
        </p:nvSpPr>
        <p:spPr>
          <a:xfrm>
            <a:off x="283464" y="1124712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283464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2648" y="1115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ERP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01752" y="1481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Banking, Journals, Fixed Assets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1691640" y="100584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91640" y="1005840"/>
            <a:ext cx="13258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1"/>
          <p:cNvSpPr/>
          <p:nvPr/>
        </p:nvSpPr>
        <p:spPr>
          <a:xfrm>
            <a:off x="1746504" y="112471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1746504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075688" y="1115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764792" y="1481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Multi-warehouse, Batch, Bundle, Barcode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3154680" y="100584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54680" y="1005840"/>
            <a:ext cx="13258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7"/>
          <p:cNvSpPr/>
          <p:nvPr/>
        </p:nvSpPr>
        <p:spPr>
          <a:xfrm>
            <a:off x="3209544" y="112471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3209544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538728" y="1115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Warehouse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227832" y="1481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WMS, Pick Lists, Material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4617720" y="100584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17720" y="1005840"/>
            <a:ext cx="13258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Shape 23"/>
          <p:cNvSpPr/>
          <p:nvPr/>
        </p:nvSpPr>
        <p:spPr>
          <a:xfrm>
            <a:off x="4672584" y="1124712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4"/>
          <p:cNvSpPr/>
          <p:nvPr/>
        </p:nvSpPr>
        <p:spPr>
          <a:xfrm>
            <a:off x="4672584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001768" y="1115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690872" y="1481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MRP, Job Cards, Machine &amp; Labor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6080760" y="100584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080760" y="1005840"/>
            <a:ext cx="13258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2" name="Shape 29"/>
          <p:cNvSpPr/>
          <p:nvPr/>
        </p:nvSpPr>
        <p:spPr>
          <a:xfrm>
            <a:off x="6135624" y="112471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6135624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464808" y="1115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153912" y="1481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Plans, Inspections, CAPA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7543800" y="100584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543800" y="1005840"/>
            <a:ext cx="13258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Shape 35"/>
          <p:cNvSpPr/>
          <p:nvPr/>
        </p:nvSpPr>
        <p:spPr>
          <a:xfrm>
            <a:off x="7598664" y="112471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Text 36"/>
          <p:cNvSpPr/>
          <p:nvPr/>
        </p:nvSpPr>
        <p:spPr>
          <a:xfrm>
            <a:off x="7598664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927848" y="1115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7616952" y="1481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to Invoice, E-Invoice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28600" y="201168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228600" y="2011680"/>
            <a:ext cx="132588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4" name="Shape 41"/>
          <p:cNvSpPr/>
          <p:nvPr/>
        </p:nvSpPr>
        <p:spPr>
          <a:xfrm>
            <a:off x="283464" y="2130552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5" name="Text 42"/>
          <p:cNvSpPr/>
          <p:nvPr/>
        </p:nvSpPr>
        <p:spPr>
          <a:xfrm>
            <a:off x="283464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12648" y="2121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Purchase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301752" y="2487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RFQ, PO, GRN, Bills &amp; Procurement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1691640" y="201168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1691640" y="2011680"/>
            <a:ext cx="13258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0" name="Shape 47"/>
          <p:cNvSpPr/>
          <p:nvPr/>
        </p:nvSpPr>
        <p:spPr>
          <a:xfrm>
            <a:off x="1746504" y="213055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1" name="Text 48"/>
          <p:cNvSpPr/>
          <p:nvPr/>
        </p:nvSpPr>
        <p:spPr>
          <a:xfrm>
            <a:off x="1746504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2075688" y="2121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Force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1764792" y="2487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Routes, Tracking, LMS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3154680" y="201168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3154680" y="2011680"/>
            <a:ext cx="13258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6" name="Shape 53"/>
          <p:cNvSpPr/>
          <p:nvPr/>
        </p:nvSpPr>
        <p:spPr>
          <a:xfrm>
            <a:off x="3209544" y="2130552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7" name="Text 54"/>
          <p:cNvSpPr/>
          <p:nvPr/>
        </p:nvSpPr>
        <p:spPr>
          <a:xfrm>
            <a:off x="3209544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538728" y="2121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CRM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3227832" y="2487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Opportunities, Campaigns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617720" y="201168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4617720" y="2011680"/>
            <a:ext cx="13258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2" name="Shape 59"/>
          <p:cNvSpPr/>
          <p:nvPr/>
        </p:nvSpPr>
        <p:spPr>
          <a:xfrm>
            <a:off x="4672584" y="213055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3" name="Text 60"/>
          <p:cNvSpPr/>
          <p:nvPr/>
        </p:nvSpPr>
        <p:spPr>
          <a:xfrm>
            <a:off x="4672584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5001768" y="2121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Projects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690872" y="2487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Budget, Billing, Resources</a:t>
            </a:r>
            <a:endParaRPr lang="en-US" sz="650" dirty="0"/>
          </a:p>
        </p:txBody>
      </p:sp>
      <p:sp>
        <p:nvSpPr>
          <p:cNvPr id="66" name="Shape 63"/>
          <p:cNvSpPr/>
          <p:nvPr/>
        </p:nvSpPr>
        <p:spPr>
          <a:xfrm>
            <a:off x="6080760" y="201168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6080760" y="2011680"/>
            <a:ext cx="13258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8" name="Shape 65"/>
          <p:cNvSpPr/>
          <p:nvPr/>
        </p:nvSpPr>
        <p:spPr>
          <a:xfrm>
            <a:off x="6135624" y="213055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9" name="Text 66"/>
          <p:cNvSpPr/>
          <p:nvPr/>
        </p:nvSpPr>
        <p:spPr>
          <a:xfrm>
            <a:off x="6135624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6464808" y="2121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HRMS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6153912" y="2487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Attendance, Leave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7543800" y="201168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7543800" y="2011680"/>
            <a:ext cx="13258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4" name="Shape 71"/>
          <p:cNvSpPr/>
          <p:nvPr/>
        </p:nvSpPr>
        <p:spPr>
          <a:xfrm>
            <a:off x="7598664" y="2130552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5" name="Text 72"/>
          <p:cNvSpPr/>
          <p:nvPr/>
        </p:nvSpPr>
        <p:spPr>
          <a:xfrm>
            <a:off x="7598664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7927848" y="2121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PMS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7616952" y="2487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Hotel, Front Desk, Housekeeping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228600" y="301752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228600" y="3017520"/>
            <a:ext cx="13258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0" name="Shape 77"/>
          <p:cNvSpPr/>
          <p:nvPr/>
        </p:nvSpPr>
        <p:spPr>
          <a:xfrm>
            <a:off x="283464" y="313639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1" name="Text 78"/>
          <p:cNvSpPr/>
          <p:nvPr/>
        </p:nvSpPr>
        <p:spPr>
          <a:xfrm>
            <a:off x="283464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612648" y="3127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Aahar POS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301752" y="3493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Restaurant, Dine-In, Delivery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1691640" y="301752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1691640" y="3017520"/>
            <a:ext cx="13258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6" name="Shape 83"/>
          <p:cNvSpPr/>
          <p:nvPr/>
        </p:nvSpPr>
        <p:spPr>
          <a:xfrm>
            <a:off x="1746504" y="313639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7" name="Text 84"/>
          <p:cNvSpPr/>
          <p:nvPr/>
        </p:nvSpPr>
        <p:spPr>
          <a:xfrm>
            <a:off x="1746504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2075688" y="3127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 POS</a:t>
            </a:r>
            <a:endParaRPr lang="en-US" sz="850" dirty="0"/>
          </a:p>
        </p:txBody>
      </p:sp>
      <p:sp>
        <p:nvSpPr>
          <p:cNvPr id="89" name="Text 86"/>
          <p:cNvSpPr/>
          <p:nvPr/>
        </p:nvSpPr>
        <p:spPr>
          <a:xfrm>
            <a:off x="1764792" y="3493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Ops, Promotions, Franchise</a:t>
            </a:r>
            <a:endParaRPr lang="en-US" sz="650" dirty="0"/>
          </a:p>
        </p:txBody>
      </p:sp>
      <p:sp>
        <p:nvSpPr>
          <p:cNvPr id="90" name="Shape 87"/>
          <p:cNvSpPr/>
          <p:nvPr/>
        </p:nvSpPr>
        <p:spPr>
          <a:xfrm>
            <a:off x="3154680" y="301752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3154680" y="3017520"/>
            <a:ext cx="132588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92" name="Shape 89"/>
          <p:cNvSpPr/>
          <p:nvPr/>
        </p:nvSpPr>
        <p:spPr>
          <a:xfrm>
            <a:off x="3209544" y="3136392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93" name="Text 90"/>
          <p:cNvSpPr/>
          <p:nvPr/>
        </p:nvSpPr>
        <p:spPr>
          <a:xfrm>
            <a:off x="3209544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800" dirty="0"/>
          </a:p>
        </p:txBody>
      </p:sp>
      <p:sp>
        <p:nvSpPr>
          <p:cNvPr id="94" name="Text 91"/>
          <p:cNvSpPr/>
          <p:nvPr/>
        </p:nvSpPr>
        <p:spPr>
          <a:xfrm>
            <a:off x="3538728" y="3127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Indirect Tax</a:t>
            </a:r>
            <a:endParaRPr lang="en-US" sz="850" dirty="0"/>
          </a:p>
        </p:txBody>
      </p:sp>
      <p:sp>
        <p:nvSpPr>
          <p:cNvPr id="95" name="Text 92"/>
          <p:cNvSpPr/>
          <p:nvPr/>
        </p:nvSpPr>
        <p:spPr>
          <a:xfrm>
            <a:off x="3227832" y="3493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GST, E-Invoice, E-Way Bill, Recon</a:t>
            </a:r>
            <a:endParaRPr lang="en-US" sz="650" dirty="0"/>
          </a:p>
        </p:txBody>
      </p:sp>
      <p:sp>
        <p:nvSpPr>
          <p:cNvPr id="96" name="Shape 93"/>
          <p:cNvSpPr/>
          <p:nvPr/>
        </p:nvSpPr>
        <p:spPr>
          <a:xfrm>
            <a:off x="4617720" y="301752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4617720" y="3017520"/>
            <a:ext cx="13258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8" name="Shape 95"/>
          <p:cNvSpPr/>
          <p:nvPr/>
        </p:nvSpPr>
        <p:spPr>
          <a:xfrm>
            <a:off x="4672584" y="313639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9" name="Text 96"/>
          <p:cNvSpPr/>
          <p:nvPr/>
        </p:nvSpPr>
        <p:spPr>
          <a:xfrm>
            <a:off x="4672584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800" dirty="0"/>
          </a:p>
        </p:txBody>
      </p:sp>
      <p:sp>
        <p:nvSpPr>
          <p:cNvPr id="100" name="Text 97"/>
          <p:cNvSpPr/>
          <p:nvPr/>
        </p:nvSpPr>
        <p:spPr>
          <a:xfrm>
            <a:off x="5001768" y="3127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Direct Tax</a:t>
            </a:r>
            <a:endParaRPr lang="en-US" sz="850" dirty="0"/>
          </a:p>
        </p:txBody>
      </p:sp>
      <p:sp>
        <p:nvSpPr>
          <p:cNvPr id="101" name="Text 98"/>
          <p:cNvSpPr/>
          <p:nvPr/>
        </p:nvSpPr>
        <p:spPr>
          <a:xfrm>
            <a:off x="4690872" y="3493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TDS/TCS Returns, Form 16, TRACES</a:t>
            </a:r>
            <a:endParaRPr lang="en-US" sz="650" dirty="0"/>
          </a:p>
        </p:txBody>
      </p:sp>
      <p:sp>
        <p:nvSpPr>
          <p:cNvPr id="102" name="Shape 99"/>
          <p:cNvSpPr/>
          <p:nvPr/>
        </p:nvSpPr>
        <p:spPr>
          <a:xfrm>
            <a:off x="6080760" y="301752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6080760" y="3017520"/>
            <a:ext cx="13258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4" name="Shape 101"/>
          <p:cNvSpPr/>
          <p:nvPr/>
        </p:nvSpPr>
        <p:spPr>
          <a:xfrm>
            <a:off x="6135624" y="3136392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5" name="Text 102"/>
          <p:cNvSpPr/>
          <p:nvPr/>
        </p:nvSpPr>
        <p:spPr>
          <a:xfrm>
            <a:off x="6135624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6464808" y="3127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Portal</a:t>
            </a:r>
            <a:endParaRPr lang="en-US" sz="850" dirty="0"/>
          </a:p>
        </p:txBody>
      </p:sp>
      <p:sp>
        <p:nvSpPr>
          <p:cNvPr id="107" name="Text 104"/>
          <p:cNvSpPr/>
          <p:nvPr/>
        </p:nvSpPr>
        <p:spPr>
          <a:xfrm>
            <a:off x="6153912" y="3493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Self-Service, Orders, Invoices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7543800" y="301752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9" name="Shape 106"/>
          <p:cNvSpPr/>
          <p:nvPr/>
        </p:nvSpPr>
        <p:spPr>
          <a:xfrm>
            <a:off x="7543800" y="3017520"/>
            <a:ext cx="13258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0" name="Shape 107"/>
          <p:cNvSpPr/>
          <p:nvPr/>
        </p:nvSpPr>
        <p:spPr>
          <a:xfrm>
            <a:off x="7598664" y="313639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1" name="Text 108"/>
          <p:cNvSpPr/>
          <p:nvPr/>
        </p:nvSpPr>
        <p:spPr>
          <a:xfrm>
            <a:off x="7598664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VP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927848" y="31272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Vendor Portal</a:t>
            </a:r>
            <a:endParaRPr lang="en-US" sz="850" dirty="0"/>
          </a:p>
        </p:txBody>
      </p:sp>
      <p:sp>
        <p:nvSpPr>
          <p:cNvPr id="113" name="Text 110"/>
          <p:cNvSpPr/>
          <p:nvPr/>
        </p:nvSpPr>
        <p:spPr>
          <a:xfrm>
            <a:off x="7616952" y="3493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Tracking, GRN, Payments</a:t>
            </a:r>
            <a:endParaRPr lang="en-US" sz="650" dirty="0"/>
          </a:p>
        </p:txBody>
      </p:sp>
      <p:sp>
        <p:nvSpPr>
          <p:cNvPr id="114" name="Shape 111"/>
          <p:cNvSpPr/>
          <p:nvPr/>
        </p:nvSpPr>
        <p:spPr>
          <a:xfrm>
            <a:off x="228600" y="402336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5" name="Shape 112"/>
          <p:cNvSpPr/>
          <p:nvPr/>
        </p:nvSpPr>
        <p:spPr>
          <a:xfrm>
            <a:off x="228600" y="4023360"/>
            <a:ext cx="13258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6" name="Shape 113"/>
          <p:cNvSpPr/>
          <p:nvPr/>
        </p:nvSpPr>
        <p:spPr>
          <a:xfrm>
            <a:off x="283464" y="414223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7" name="Text 114"/>
          <p:cNvSpPr/>
          <p:nvPr/>
        </p:nvSpPr>
        <p:spPr>
          <a:xfrm>
            <a:off x="283464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</a:t>
            </a:r>
            <a:endParaRPr lang="en-US" sz="800" dirty="0"/>
          </a:p>
        </p:txBody>
      </p:sp>
      <p:sp>
        <p:nvSpPr>
          <p:cNvPr id="118" name="Text 115"/>
          <p:cNvSpPr/>
          <p:nvPr/>
        </p:nvSpPr>
        <p:spPr>
          <a:xfrm>
            <a:off x="612648" y="4133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Fleet Mgmt</a:t>
            </a:r>
            <a:endParaRPr lang="en-US" sz="850" dirty="0"/>
          </a:p>
        </p:txBody>
      </p:sp>
      <p:sp>
        <p:nvSpPr>
          <p:cNvPr id="119" name="Text 116"/>
          <p:cNvSpPr/>
          <p:nvPr/>
        </p:nvSpPr>
        <p:spPr>
          <a:xfrm>
            <a:off x="301752" y="4498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Vehicles, Fuel, Maintenance</a:t>
            </a:r>
            <a:endParaRPr lang="en-US" sz="650" dirty="0"/>
          </a:p>
        </p:txBody>
      </p:sp>
      <p:sp>
        <p:nvSpPr>
          <p:cNvPr id="120" name="Shape 117"/>
          <p:cNvSpPr/>
          <p:nvPr/>
        </p:nvSpPr>
        <p:spPr>
          <a:xfrm>
            <a:off x="1691640" y="402336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1" name="Shape 118"/>
          <p:cNvSpPr/>
          <p:nvPr/>
        </p:nvSpPr>
        <p:spPr>
          <a:xfrm>
            <a:off x="1691640" y="4023360"/>
            <a:ext cx="13258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2" name="Shape 119"/>
          <p:cNvSpPr/>
          <p:nvPr/>
        </p:nvSpPr>
        <p:spPr>
          <a:xfrm>
            <a:off x="1746504" y="4142232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3" name="Text 120"/>
          <p:cNvSpPr/>
          <p:nvPr/>
        </p:nvSpPr>
        <p:spPr>
          <a:xfrm>
            <a:off x="1746504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2075688" y="4133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Transport</a:t>
            </a:r>
            <a:endParaRPr lang="en-US" sz="850" dirty="0"/>
          </a:p>
        </p:txBody>
      </p:sp>
      <p:sp>
        <p:nvSpPr>
          <p:cNvPr id="125" name="Text 122"/>
          <p:cNvSpPr/>
          <p:nvPr/>
        </p:nvSpPr>
        <p:spPr>
          <a:xfrm>
            <a:off x="1764792" y="4498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TMS, Trip Sheets, Consignments</a:t>
            </a:r>
            <a:endParaRPr lang="en-US" sz="650" dirty="0"/>
          </a:p>
        </p:txBody>
      </p:sp>
      <p:sp>
        <p:nvSpPr>
          <p:cNvPr id="126" name="Shape 123"/>
          <p:cNvSpPr/>
          <p:nvPr/>
        </p:nvSpPr>
        <p:spPr>
          <a:xfrm>
            <a:off x="3154680" y="402336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7" name="Shape 124"/>
          <p:cNvSpPr/>
          <p:nvPr/>
        </p:nvSpPr>
        <p:spPr>
          <a:xfrm>
            <a:off x="3154680" y="4023360"/>
            <a:ext cx="13258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8" name="Shape 125"/>
          <p:cNvSpPr/>
          <p:nvPr/>
        </p:nvSpPr>
        <p:spPr>
          <a:xfrm>
            <a:off x="3209544" y="414223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9" name="Text 126"/>
          <p:cNvSpPr/>
          <p:nvPr/>
        </p:nvSpPr>
        <p:spPr>
          <a:xfrm>
            <a:off x="3209544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3538728" y="4133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Construction</a:t>
            </a:r>
            <a:endParaRPr lang="en-US" sz="850" dirty="0"/>
          </a:p>
        </p:txBody>
      </p:sp>
      <p:sp>
        <p:nvSpPr>
          <p:cNvPr id="131" name="Text 128"/>
          <p:cNvSpPr/>
          <p:nvPr/>
        </p:nvSpPr>
        <p:spPr>
          <a:xfrm>
            <a:off x="3227832" y="4498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Booking, Stage Billing</a:t>
            </a:r>
            <a:endParaRPr lang="en-US" sz="650" dirty="0"/>
          </a:p>
        </p:txBody>
      </p:sp>
      <p:sp>
        <p:nvSpPr>
          <p:cNvPr id="132" name="Shape 129"/>
          <p:cNvSpPr/>
          <p:nvPr/>
        </p:nvSpPr>
        <p:spPr>
          <a:xfrm>
            <a:off x="4617720" y="402336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3" name="Shape 130"/>
          <p:cNvSpPr/>
          <p:nvPr/>
        </p:nvSpPr>
        <p:spPr>
          <a:xfrm>
            <a:off x="4617720" y="4023360"/>
            <a:ext cx="13258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4" name="Shape 131"/>
          <p:cNvSpPr/>
          <p:nvPr/>
        </p:nvSpPr>
        <p:spPr>
          <a:xfrm>
            <a:off x="4672584" y="414223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5" name="Text 132"/>
          <p:cNvSpPr/>
          <p:nvPr/>
        </p:nvSpPr>
        <p:spPr>
          <a:xfrm>
            <a:off x="4672584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5001768" y="4133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 Work</a:t>
            </a:r>
            <a:endParaRPr lang="en-US" sz="850" dirty="0"/>
          </a:p>
        </p:txBody>
      </p:sp>
      <p:sp>
        <p:nvSpPr>
          <p:cNvPr id="137" name="Text 134"/>
          <p:cNvSpPr/>
          <p:nvPr/>
        </p:nvSpPr>
        <p:spPr>
          <a:xfrm>
            <a:off x="4690872" y="4498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BOM, Challans, GRN, Process</a:t>
            </a:r>
            <a:endParaRPr lang="en-US" sz="650" dirty="0"/>
          </a:p>
        </p:txBody>
      </p:sp>
      <p:sp>
        <p:nvSpPr>
          <p:cNvPr id="138" name="Shape 135"/>
          <p:cNvSpPr/>
          <p:nvPr/>
        </p:nvSpPr>
        <p:spPr>
          <a:xfrm>
            <a:off x="6080760" y="402336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9" name="Shape 136"/>
          <p:cNvSpPr/>
          <p:nvPr/>
        </p:nvSpPr>
        <p:spPr>
          <a:xfrm>
            <a:off x="6080760" y="4023360"/>
            <a:ext cx="132588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40" name="Shape 137"/>
          <p:cNvSpPr/>
          <p:nvPr/>
        </p:nvSpPr>
        <p:spPr>
          <a:xfrm>
            <a:off x="6135624" y="4142232"/>
            <a:ext cx="274320" cy="27432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41" name="Text 138"/>
          <p:cNvSpPr/>
          <p:nvPr/>
        </p:nvSpPr>
        <p:spPr>
          <a:xfrm>
            <a:off x="6135624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NB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6464808" y="4133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Neo Banking</a:t>
            </a:r>
            <a:endParaRPr lang="en-US" sz="850" dirty="0"/>
          </a:p>
        </p:txBody>
      </p:sp>
      <p:sp>
        <p:nvSpPr>
          <p:cNvPr id="143" name="Text 140"/>
          <p:cNvSpPr/>
          <p:nvPr/>
        </p:nvSpPr>
        <p:spPr>
          <a:xfrm>
            <a:off x="6153912" y="4498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ICICI, RBL, RazorPay, Auto-Settle</a:t>
            </a:r>
            <a:endParaRPr lang="en-US" sz="650" dirty="0"/>
          </a:p>
        </p:txBody>
      </p:sp>
      <p:sp>
        <p:nvSpPr>
          <p:cNvPr id="144" name="Shape 141"/>
          <p:cNvSpPr/>
          <p:nvPr/>
        </p:nvSpPr>
        <p:spPr>
          <a:xfrm>
            <a:off x="7543800" y="4023360"/>
            <a:ext cx="1325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5" name="Shape 142"/>
          <p:cNvSpPr/>
          <p:nvPr/>
        </p:nvSpPr>
        <p:spPr>
          <a:xfrm>
            <a:off x="7543800" y="4023360"/>
            <a:ext cx="13258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6" name="Shape 143"/>
          <p:cNvSpPr/>
          <p:nvPr/>
        </p:nvSpPr>
        <p:spPr>
          <a:xfrm>
            <a:off x="7598664" y="414223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7" name="Text 144"/>
          <p:cNvSpPr/>
          <p:nvPr/>
        </p:nvSpPr>
        <p:spPr>
          <a:xfrm>
            <a:off x="7598664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927848" y="4133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Engine</a:t>
            </a:r>
            <a:endParaRPr lang="en-US" sz="850" dirty="0"/>
          </a:p>
        </p:txBody>
      </p:sp>
      <p:sp>
        <p:nvSpPr>
          <p:cNvPr id="149" name="Text 146"/>
          <p:cNvSpPr/>
          <p:nvPr/>
        </p:nvSpPr>
        <p:spPr>
          <a:xfrm>
            <a:off x="7616952" y="4498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Automation, Smart Workflows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ERP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Business Management Suite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Setup &amp; Portals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Setup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signup with email/mobile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setup through GSTIN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Industry-wise chart of accounts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setup for multiple apps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 &amp; PAN validation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multiple businesses at once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Portal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 for customers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invoices, orders &amp; statements online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deliveries &amp; payments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support tickets &amp; queries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Accept/Decline quotations online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documents &amp; reports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Vendor Portal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acknowledgment &amp; tracking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invoices &amp; delivery challans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payment status &amp; history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document submission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status visibility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query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Configurations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96012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GSTIN &amp; Branch Management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3560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344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Lock Date &amp; Financial Year Settings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9110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&amp; TDS Application Syncing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38658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295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Currency &amp; Price Groups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86207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27706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Group &amp; Agent Commission Masters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33756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3246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Print Templates with Customization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46320" y="96012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5047488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Notifications &amp; Email Templates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46320" y="143560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5047488" y="1344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Series &amp; Barcode Printing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846320" y="19110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0"/>
          <p:cNvSpPr/>
          <p:nvPr/>
        </p:nvSpPr>
        <p:spPr>
          <a:xfrm>
            <a:off x="5047488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 at Document &amp; Item Levels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846320" y="238658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2"/>
          <p:cNvSpPr/>
          <p:nvPr/>
        </p:nvSpPr>
        <p:spPr>
          <a:xfrm>
            <a:off x="5047488" y="2295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Taxes &amp; Stock Adjustment Management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46320" y="286207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5047488" y="27706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Keys &amp; Menu Customization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46320" y="333756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6"/>
          <p:cNvSpPr/>
          <p:nvPr/>
        </p:nvSpPr>
        <p:spPr>
          <a:xfrm>
            <a:off x="5047488" y="3246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Master &amp; Document Customization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Management &amp; Dashboard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multiple users per business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multiple businesses to one user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Active/Inactive user scheduling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Role Group wise access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wise access permission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Employee tree access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Amount-based approval matrix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Payment/Receipt Status tracking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Bank Balance overview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&amp; Asset Analysis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&amp; Inventory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panel for approvals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Charts – up to 50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0D9488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 Management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Modules: Item Master, Stock Mgmt, Bundle &amp; Storage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 at a Glance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31520" y="960120"/>
            <a:ext cx="237744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960120"/>
            <a:ext cx="23774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4"/>
          <p:cNvSpPr/>
          <p:nvPr/>
        </p:nvSpPr>
        <p:spPr>
          <a:xfrm>
            <a:off x="1691640" y="1188720"/>
            <a:ext cx="457200" cy="457200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691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Features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mgmt (Auto &amp; Manual), BOM, multi-pricing, barcodes, SKU mgmt, bundle items, service items, custom imports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83280" y="960120"/>
            <a:ext cx="237744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960120"/>
            <a:ext cx="23774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1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747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34747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Methods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2044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FIFO, LIFO, Weighted Average Perpetual, Landing Cost Adjustment, multiple attribute-wise pricing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35040" y="960120"/>
            <a:ext cx="237744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35040" y="960120"/>
            <a:ext cx="23774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8"/>
          <p:cNvSpPr/>
          <p:nvPr/>
        </p:nvSpPr>
        <p:spPr>
          <a:xfrm>
            <a:off x="6995160" y="1188720"/>
            <a:ext cx="457200" cy="45720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9951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2648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1264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Controls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7220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Min/Max/Reorder levels, Economic Order Qty, Physical Stock Verification, Stock Adjustment, Opening Qty mgmt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 – Item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Item Creation &amp; Setup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items with Group, Category &amp; Attributes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Management – Auto &amp; Manual modes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Identification Qty-wise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Part Names per customer requirement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Code for search &amp; printing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Bill of Material (BOM)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Service, Bundle &amp; Manufacturing Items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 &amp; Discounts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Pricing &amp; Discount Modules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Attribute-wise pricing with permutations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Quantity-wise discount tiers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GST for Sales vs Purchase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change history tracking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SKU for GST &amp; Base Unit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Mapping per item option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Import &amp; Data Management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Inventory – No standard template needed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Bundles from Excel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quantity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Conversion creation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Consumption tracking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Cost Adjustment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Adjustment &amp; Physical Verification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 – Stock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96012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adjustments – opening &amp; closing stock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3560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344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stock verification with reports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9110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consumption tracking &amp; analysis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38658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295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Ledger – detailed inventory analysis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86207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27706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Ageing Report for obsolescence tracking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33756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3246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Discrepancy Report for variance analysis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46320" y="96012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5047488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Issue Report – department &amp; cost center wise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46320" y="143560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5047488" y="1344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Consumption Report by department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846320" y="19110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0"/>
          <p:cNvSpPr/>
          <p:nvPr/>
        </p:nvSpPr>
        <p:spPr>
          <a:xfrm>
            <a:off x="5047488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out Report &amp; reorder alerts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846320" y="238658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2"/>
          <p:cNvSpPr/>
          <p:nvPr/>
        </p:nvSpPr>
        <p:spPr>
          <a:xfrm>
            <a:off x="5047488" y="2295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Stock Report with current position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46320" y="286207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5047488" y="27706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transfer stock reporting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46320" y="333756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6"/>
          <p:cNvSpPr/>
          <p:nvPr/>
        </p:nvSpPr>
        <p:spPr>
          <a:xfrm>
            <a:off x="5047488" y="3246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Summary &amp; movement analysis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 – Bundle &amp; Moveable Storage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Bundle Management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Item Bundles with multiple items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Pricing &amp; Discount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Stock tracking &amp;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Bundle capability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import from Excel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Moveable Storage Management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Movable Storages – Crates, Pallets, Cylinders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 Management with type &amp; stock tracking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movement: Empty, At Storage, At Customer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and Cylinder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tracking of moveable assets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F59E0B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Warehouse Management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WMS with Smart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Warehouse Capabilities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31520" y="960120"/>
            <a:ext cx="237744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960120"/>
            <a:ext cx="23774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4"/>
          <p:cNvSpPr/>
          <p:nvPr/>
        </p:nvSpPr>
        <p:spPr>
          <a:xfrm>
            <a:off x="1691640" y="1188720"/>
            <a:ext cx="457200" cy="457200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691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Levels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Godown &gt; Room &gt; Rack &gt; Row &gt; Bin. Full hierarchical warehouse structure for precise inventory placement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83280" y="960120"/>
            <a:ext cx="237744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960120"/>
            <a:ext cx="23774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1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747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34747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Warehouses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2044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QC Items (Virtual Warehouse), Stock at Job Worker Locations (Virtual Warehouse) for complete visibility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35040" y="960120"/>
            <a:ext cx="237744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35040" y="960120"/>
            <a:ext cx="23774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8"/>
          <p:cNvSpPr/>
          <p:nvPr/>
        </p:nvSpPr>
        <p:spPr>
          <a:xfrm>
            <a:off x="6995160" y="1188720"/>
            <a:ext cx="457200" cy="45720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9951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2648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1264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Movement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7220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Lists, Material Request Notes, Material Transfer Notes, Issue Material to Departments – all automated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Warehouse Operations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Warehouse Structure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Single-Level warehouse setup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Multi-Level: Godown, Room, Rack, Row &amp; Bin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Warehouse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&amp; Bin Management for precise storage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Warehouse for Pending QC items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Warehouse for Job Worker stock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Material Operations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List for Item Picking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Movement tracking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Request Note (MRN) – request from main store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Transfer Note – warehouse to warehouse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Material to Internal Departments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Project-wise warehouse linking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8B5CF6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&amp; Quality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Modules: Production (2) + Quality (3)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Capabilities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31520" y="960120"/>
            <a:ext cx="237744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960120"/>
            <a:ext cx="23774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4"/>
          <p:cNvSpPr/>
          <p:nvPr/>
        </p:nvSpPr>
        <p:spPr>
          <a:xfrm>
            <a:off x="1691640" y="1188720"/>
            <a:ext cx="457200" cy="457200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691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E2E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Flow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Card &gt; Production Plan &gt; Production Order &gt; Job Cards &gt; Production Entry &gt; Journal &gt; Dashboard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83280" y="960120"/>
            <a:ext cx="237744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960120"/>
            <a:ext cx="23774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1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747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MRP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34747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Planning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2044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Material Requirement Planning, resource optimization, machine &amp; labor efficiency tracking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35040" y="960120"/>
            <a:ext cx="237744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35040" y="960120"/>
            <a:ext cx="23774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8"/>
          <p:cNvSpPr/>
          <p:nvPr/>
        </p:nvSpPr>
        <p:spPr>
          <a:xfrm>
            <a:off x="6995160" y="1188720"/>
            <a:ext cx="457200" cy="45720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9951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2648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1264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7220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Dashboard, machine utilization, labor performance, shift tracking, cost analysis per job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Management – Detailed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Masters &amp; Setup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Multiple Machines with capacity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Shifts configuration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Labor &amp; Cost Masters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Operations &amp; Tools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Card / Routing / Manufacturing Mapping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BOM management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Planning &amp; Execution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 with resource allocation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Order creation &amp; tracking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Cards – break large orders into units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Entry – machine &amp; labor efficiency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 &amp; production scheduling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Journal for cost tracking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Monitoring &amp; Reporting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Production Monitoring Dashboard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Requirement Report (MRP)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utilization &amp; downtime reports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efficiency &amp; performance metrics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Shift-wise production analysis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Journal for cost allocation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Management – 3 Modules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Planning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Dashboard – real-time QC overview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Master for multiple quality checks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Plan for procurement items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 for production items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management &amp; AQL setup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standards &amp; benchmarks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Inspection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Inward Inspection for procurement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Inspection for production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Inspection &amp; First Article Inspection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plans with pass/fail criteria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management &amp; defect tracking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checklists &amp; reporting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Improvement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&amp; Preventive Actions (CAPA)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&amp; NCR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Audits scheduling &amp; tracking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Quality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Cost Analysis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reporting &amp; continuous improvement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 Work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 Work Orders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Work Bill of Material (BOM)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Order for Job Work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Work Delivery Challan – returnable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Goods Movement Challan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Non-Returnable Delivery Challan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Tracking &amp; Integration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Work Goods Receipt Note (GRN)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tracking at job worker locations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Process linked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job work support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Project-linked job work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Contacts – Customer &amp; Vendor Master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96012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Groups: Customer / Vendor / Employee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3560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344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Contacts: Customers / Vendors / Agents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9110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TDS Rate Mapping &amp; GSTIN Validation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38658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295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Days &amp; Credit Limits Management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86207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27706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Default Goods/Services &amp; TDS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33756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3246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 with no standard template required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46320" y="96012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5047488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KYC Documents per contact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46320" y="143560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5047488" y="1344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Group for Discount &amp; Price mgmt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846320" y="19110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0"/>
          <p:cNvSpPr/>
          <p:nvPr/>
        </p:nvSpPr>
        <p:spPr>
          <a:xfrm>
            <a:off x="5047488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Registration validation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846320" y="238658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2"/>
          <p:cNvSpPr/>
          <p:nvPr/>
        </p:nvSpPr>
        <p:spPr>
          <a:xfrm>
            <a:off x="5047488" y="2295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Mapping – Manual &amp; Import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46320" y="286207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5047488" y="27706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List, Discounts &amp; Schemes tracking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46320" y="333756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6"/>
          <p:cNvSpPr/>
          <p:nvPr/>
        </p:nvSpPr>
        <p:spPr>
          <a:xfrm>
            <a:off x="5047488" y="3246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address support per contact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Banking &amp; Payments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Bank Account Management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Cash, Bank, Credit Card, Loan accounts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Bank Feed – auto import statements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Suggestive / Rule-based / Manual Reconciliation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Printing &amp; Statement Import (Excel/PDF)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Neo Banking Integration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 Elite – Direct customer collection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 Neo – ICICI, RBL Bank, RazorPay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vendor payments from software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Auto-settle with invoices/bills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Receipts &amp; Payments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Advance, On Account, Multi-invoice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entries with bank charges option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Credit Allocation &amp; Adjustment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all vouchers – no template needed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Process – 6 Modules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960120"/>
            <a:ext cx="182880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6012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4"/>
          <p:cNvSpPr/>
          <p:nvPr/>
        </p:nvSpPr>
        <p:spPr>
          <a:xfrm>
            <a:off x="1188720" y="1188720"/>
            <a:ext cx="457200" cy="457200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9436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Modules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743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&gt; Sales Order &gt; Invoicing &gt; Delivery Challan &gt; Returns &amp; Adjustments &gt; Repeating Invoices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06040" y="960120"/>
            <a:ext cx="182880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96012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1188720"/>
            <a:ext cx="457200" cy="457200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69748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269748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Features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0" y="2743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Multi-GSTIN, E-invoice, E-Way Bill, 4-level discounts, custom fields, QR code, payment links, multi-currency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09160" y="960120"/>
            <a:ext cx="182880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9160" y="96012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8"/>
          <p:cNvSpPr/>
          <p:nvPr/>
        </p:nvSpPr>
        <p:spPr>
          <a:xfrm>
            <a:off x="5394960" y="1188720"/>
            <a:ext cx="457200" cy="45720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3949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80060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480060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Compliance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46320" y="2743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TDS, TCS, GST adjustments. E-Invoice IRN generation. Real-time currency exchange for exports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812280" y="960120"/>
            <a:ext cx="182880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812280" y="960120"/>
            <a:ext cx="1828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5"/>
          <p:cNvSpPr/>
          <p:nvPr/>
        </p:nvSpPr>
        <p:spPr>
          <a:xfrm>
            <a:off x="7498080" y="1188720"/>
            <a:ext cx="457200" cy="457200"/>
          </a:xfrm>
          <a:prstGeom prst="ellipse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7498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90372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360</a:t>
            </a:r>
            <a:endParaRPr lang="en-US" sz="3200" dirty="0"/>
          </a:p>
        </p:txBody>
      </p:sp>
      <p:sp>
        <p:nvSpPr>
          <p:cNvPr id="31" name="Text 28"/>
          <p:cNvSpPr/>
          <p:nvPr/>
        </p:nvSpPr>
        <p:spPr>
          <a:xfrm>
            <a:off x="690372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949440" y="2743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Distributor-Retailer mgmt, route planning, shipments, pick lists, automated billing, channel analytics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Distribution &amp; Channel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Distribution Operations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&amp; Retailer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Distributor-to-HO billing automation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Retailer-to-Distributor-HO billing automation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planning &amp;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creation against sales orders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shipment for multiple open orders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Transfer &amp; Channel Analytics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Orders – Intra-Company Transactions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Full/Partial conversion with tolerance settings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Transfer management &amp; tracking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analytics &amp; route performance reports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pick lists across multiple orders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manage orders by routes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Purchase Process – 6 Modules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960120"/>
            <a:ext cx="182880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6012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4"/>
          <p:cNvSpPr/>
          <p:nvPr/>
        </p:nvSpPr>
        <p:spPr>
          <a:xfrm>
            <a:off x="1188720" y="1188720"/>
            <a:ext cx="457200" cy="457200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RFQ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9436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Quote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743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RFQ to vendors. Auto vendor selection on price &amp; delivery. Online vendor quotation submission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06040" y="960120"/>
            <a:ext cx="182880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96012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1188720"/>
            <a:ext cx="457200" cy="457200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69748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269748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0" y="2743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 by Qty/Price/Time. Tolerance settings. Multi-PO to single GRN/Bill. Indent management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09160" y="960120"/>
            <a:ext cx="182880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9160" y="96012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8"/>
          <p:cNvSpPr/>
          <p:nvPr/>
        </p:nvSpPr>
        <p:spPr>
          <a:xfrm>
            <a:off x="5394960" y="1188720"/>
            <a:ext cx="457200" cy="45720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3949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80060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GRN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480060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Receipt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46320" y="2743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from single/multiple PO. Quality tracking. Tolerance mgmt. Multi-GRN to single bill conversion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812280" y="960120"/>
            <a:ext cx="182880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812280" y="960120"/>
            <a:ext cx="1828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5"/>
          <p:cNvSpPr/>
          <p:nvPr/>
        </p:nvSpPr>
        <p:spPr>
          <a:xfrm>
            <a:off x="7498080" y="1188720"/>
            <a:ext cx="457200" cy="457200"/>
          </a:xfrm>
          <a:prstGeom prst="ellipse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7498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90372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</a:t>
            </a:r>
            <a:endParaRPr lang="en-US" sz="3200" dirty="0"/>
          </a:p>
        </p:txBody>
      </p:sp>
      <p:sp>
        <p:nvSpPr>
          <p:cNvPr id="31" name="Text 28"/>
          <p:cNvSpPr/>
          <p:nvPr/>
        </p:nvSpPr>
        <p:spPr>
          <a:xfrm>
            <a:off x="690372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Bills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949440" y="2743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bills, Neo Banking payments, ITC management, multi-GSTIN billing, bulk import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Modules – 4 Core Areas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Expense Management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Maker-Checker-Authoriser workflow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authorised expenses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calculation &amp; payment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Dept/Cost Center allocation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with rule-based validations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 Banking direct payment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Accounting &amp; Reports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Chart of Accounts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journal types (Manual, Sale, Purchase, TDS, Prepaid)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Balance, P&amp;L, Balance Sheet (multiple layouts)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Flow, General Ledger, Day Book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III reporting &amp; export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&amp; comparative statements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Fixed Assets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register &amp; asset groups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depreciation (SLM/WDV)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depreciation runs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with auto gain/loss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transfers &amp; maintenance history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asset reports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Reports – Comprehensive Business Intelligence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96012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Balance Sheet, P&amp;L, Trial Balance, Cash Flow, Schedule III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3560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344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Sales Register, Profitability, Ageing Summary, Period Summary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9110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Purchase Register, GRN vs Invoice, Purchase Cycle, Payables Ageing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38658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295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Sales &amp; Purchase Analytics, State-wise Reports, Statistics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96012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5047488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General Ledger, Bank Recon, Day Book, Journal Reports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143560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5047488" y="1344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Stock Summary, Stock Ledger, Ageing, Warehouse Reports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19110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5047488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Customer Invoice, Income by Contact, Due Statement, Non-Performing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238658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5047488" y="2295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Agent Commission, Fixed Asset, Cheque Register, Receivable/Payable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Projects &amp; Tasks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Projects &amp; Sub-Projects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Sub-Task management with dependencies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Collaboration, commenting &amp; file sharing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timelines &amp; milestones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tracking &amp; resource allocation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expense monitoring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Accounting Integration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&amp; markup for quotations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linked auto-project creation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Budget-controlled procurement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Task-wise/Project-wise invoicing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Work &amp; Manufacturing linking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profitability reports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Features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expense allocation to projects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Billable/Non-Billable task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Task-to-task cost transfer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Project-wise inventory allocation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module integration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linking per project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Fleet &amp; Transport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Fleet Management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Vehicle, Driver &amp; Transporter masters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sheets &amp; activity sheet creation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consumption tracking &amp; reporting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complaint &amp; workshop mgmt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tracking &amp; renewal scheduling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fleet &amp; utilization reports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 &amp; in-built accounting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Transportation Management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work &amp; consignment based transport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booking &amp; LR (Lorry Receipt) creation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Sheet (Challan) with auto-fetch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computation &amp; tolerance settings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revenue recognition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&amp; GST compliance on invoices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MIS &amp; financial reporting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Construction &amp; CRM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Construction Management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Property/Flat category &amp; PLC charges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Tower, Block, Wing, Floor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booking &amp; registration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Stage-wise instalment auto-computation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recognition &amp; GST compliance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Structure-wise project costing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CRM – Customer Relationship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Contacts, Opportunities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 with conversion workflow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Calls, Meetings &amp; Email integration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Notes &amp; Document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Targets &amp; Target Lists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management with full audit log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F97316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Force Automation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Field Sales &amp;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Force Automation (Mobile App)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96012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Sales Trends, Target vs Achievement, Receivables, Stock Alerts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3560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344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Mgmt: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 leads, KYC upload, tasks, status &amp; source reports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9110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Mgmt: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Quotation, Sales Order, Invoice, Bill of Supply, Purchase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38658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295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Force: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Routes, route plans, tracking, payment collection, activities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96012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5047488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Item view settings, banner plans, employee engagement tools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143560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5047488" y="1344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Task Ageing, Receivables, Order Source, Missed Orders, Route Visit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19110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5047488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App: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My Orders, Invoices, Payment Outstanding, VAN Sales, Pay Now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238658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5047488" y="2295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Themes, drawer settings, branch switching, multi-role support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8B5CF6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Property Management System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Industry Solution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PMS – Hotel Management Features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31520" y="960120"/>
            <a:ext cx="237744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960120"/>
            <a:ext cx="23774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1691640" y="1188720"/>
            <a:ext cx="457200" cy="457200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691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14+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Reservation, Room Inventory, Front Desk, Housekeeping, POS, Guest Profiles, Accounting &amp; Finance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83280" y="960120"/>
            <a:ext cx="237744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960120"/>
            <a:ext cx="23774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1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747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OTA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34747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Integration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2044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&amp; OTA Integration, Guest Engagement, Marketing &amp; Promotions, Mobile Accessibility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35040" y="960120"/>
            <a:ext cx="237744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35040" y="960120"/>
            <a:ext cx="23774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8"/>
          <p:cNvSpPr/>
          <p:nvPr/>
        </p:nvSpPr>
        <p:spPr>
          <a:xfrm>
            <a:off x="6995160" y="1188720"/>
            <a:ext cx="457200" cy="45720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9951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2648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1264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Intel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7220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Analytics, Business Intelligence, Payment Processing, Multi-Language, Guest Reviews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6366F1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Aahar POS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&amp; Food Service POS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Aahar POS – Complete Restaurant Solution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6868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 Operations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Away, Dine In, Online Order, Delivery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Kitchen, Floor &amp; Table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payment methods &amp; loyalty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keys &amp; printer configuration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Swiggy/Zomato integration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6868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Management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Sales, Purchase &amp; Expense modules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Journal, Cash &amp; Bank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production (BOM)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Master &amp; discount modules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analytics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Reports &amp; Settings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Day-wise summary &amp; tender reports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mix, guest count, cashier variance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 summary &amp; profitability reports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Sheet, P&amp;L, Trial Balance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restore &amp; import/export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10B981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 POS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Multi-Store Retail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 POS – End-to-End Retail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68680"/>
            <a:ext cx="54864" cy="3474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Store Operations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Begin/End, Session Open/Close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billing &amp; barcode scanning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engine with conditions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order types (Dine-in/Takeaway/Delivery)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 management &amp; floor/table setup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 performance tracking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68680"/>
            <a:ext cx="54864" cy="3474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Procurement &amp; Inventory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Master &amp; procurement terms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management with follow-up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Receipt/Return &amp; barcode print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setup with attributes &amp; pricing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 &amp; Service item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 &amp; card management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54864" cy="3474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&amp; Distribution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&amp; Delivery Challan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Franchisee &amp; Branch Transfer mgmt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Inter-branch Sales/Purchase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with loyalty &amp; customer points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&amp; Reimbursement module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POS &amp; management reports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F59E0B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HRMS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Management System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HRMS – Complete People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68680"/>
            <a:ext cx="54864" cy="3474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Employee &amp; Attendance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invite, import &amp;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Company, Salary &amp; Bank details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dashboard &amp; punch import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logs, summary &amp; leave apply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 – reportee leave &amp; requests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68680"/>
            <a:ext cx="54864" cy="3474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Leave &amp; Payroll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configurable leave rules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 (PL, CL, SL), holiday calendar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run by frequency (Monthly/Weekly)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structure with allowances/deductions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 &amp; pay slip generation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54864" cy="3474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Settings &amp; Organization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 with policy creation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year &amp; attendance settings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series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credit &amp; expiry scheduling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tree &amp; employee directory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10B981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Indirect Tax (GST)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GST Compliance Suite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GST – Filing &amp; Compliance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960120"/>
            <a:ext cx="182880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6012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4"/>
          <p:cNvSpPr/>
          <p:nvPr/>
        </p:nvSpPr>
        <p:spPr>
          <a:xfrm>
            <a:off x="1188720" y="1188720"/>
            <a:ext cx="457200" cy="457200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9436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Areas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743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Business Profile, Sales, Purchase, Returns, E-Invoice, E-Way Bill, Reconciliation, Reports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06040" y="960120"/>
            <a:ext cx="182880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96012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1188720"/>
            <a:ext cx="457200" cy="457200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69748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269748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Forms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0" y="2743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GSTR-1, GSTR-3B, GSTR-7, GSTR-9, GSTR-9C, ITC-04 with OTP/non-OTP portal integration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09160" y="960120"/>
            <a:ext cx="182880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9160" y="96012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8"/>
          <p:cNvSpPr/>
          <p:nvPr/>
        </p:nvSpPr>
        <p:spPr>
          <a:xfrm>
            <a:off x="5394960" y="1188720"/>
            <a:ext cx="457200" cy="45720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3949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80060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4x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480060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46320" y="2743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vs Purchase, 2B vs Purchase, GSTR-1 vs 3B, 2A vs 3B with tolerance settings &amp; mail alerts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812280" y="960120"/>
            <a:ext cx="1828800" cy="3566160"/>
          </a:xfrm>
          <a:prstGeom prst="rect">
            <a:avLst/>
          </a:prstGeom>
          <a:solidFill>
            <a:srgbClr val="0F2B3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812280" y="960120"/>
            <a:ext cx="182880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8" name="Shape 25"/>
          <p:cNvSpPr/>
          <p:nvPr/>
        </p:nvSpPr>
        <p:spPr>
          <a:xfrm>
            <a:off x="7498080" y="1188720"/>
            <a:ext cx="457200" cy="457200"/>
          </a:xfrm>
          <a:prstGeom prst="ellipse">
            <a:avLst/>
          </a:prstGeom>
          <a:solidFill>
            <a:srgbClr val="F43F5E">
              <a:alpha val="6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7498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90372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Bulk</a:t>
            </a:r>
            <a:endParaRPr lang="en-US" sz="3200" dirty="0"/>
          </a:p>
        </p:txBody>
      </p:sp>
      <p:sp>
        <p:nvSpPr>
          <p:cNvPr id="31" name="Text 28"/>
          <p:cNvSpPr/>
          <p:nvPr/>
        </p:nvSpPr>
        <p:spPr>
          <a:xfrm>
            <a:off x="690372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&amp; E-Way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949440" y="2743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IRN generation, QR codes, multi-vehicle support, consolidated E-Way bills, JSON download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GST – Advanced Capabilities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96012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Bulk Sales/Purchase, Tally sync, Amazon/Flipkart, GSTN JSON/Excel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356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1344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Bill To Ship To, Reverse Charge, Cess, Margin Scheme, TDS/TCS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91109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B2B &amp; Export IRN, bulk generation, cancel IRN, QR code printing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38658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295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E-Way Bill: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Sales/Purchase generation, transporter mode, part-B update, consolidation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96012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5047488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GSTR-2A/2B: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Monthly/Yearly download, OTP &amp; non-OTP modes, detailed Excel export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14356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5047488" y="1344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Tolerance-based ITC maximization, selective data, email to vendors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191109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5047488" y="18196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Item master with HSN/SAC finder, client master with GSTIN validation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238658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5047488" y="2295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 document series, invoice templates, e-invoice portal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F43F5E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Direct Tax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&amp; TCS Compliance – 4 Modules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TDS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68680"/>
            <a:ext cx="54864" cy="3474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 24Q – Salary TDS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&amp; Correction returns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deductee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Annual salary modes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&amp; New Tax Regime (115BAC)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with OLTAS verification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FUV file generation &amp; upload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68680"/>
            <a:ext cx="54864" cy="3474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 26Q – Non-Salary TDS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&amp; Correction returns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Deductee master &amp; import from other deductors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management &amp; Excel import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entries &amp; challan mapping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schema validation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deduction files &amp; reports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54864" cy="3474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Utilities &amp; Reports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12344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integration – download requests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&amp; Conso file downloads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Certificate – Form 16/16A generation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calculators – Late &amp; Non-deduction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Quarter/Year-wise summary reports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Master &amp; payment details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TCS Management &amp; NRI TDS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868680"/>
            <a:ext cx="54864" cy="3474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 27EQ – TCS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&amp; Correction TCS returns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Collectee master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management &amp; Excel import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entry &amp; challan mapping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Certificate generation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integration &amp; reconciliation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68680"/>
            <a:ext cx="54864" cy="3474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 27Q – NRI TDS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&amp; Correction returns for NRI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Deductee management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with OLTAS verification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entries &amp; mapping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schema validation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deduction &amp; challan data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&amp; Vendor Portals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Portals for Partners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/home/claude/logo_dark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&amp; Vendor Portal Features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64008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Portal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login for multi-application access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download invoices and statements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status &amp; delivery in real-time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 quotations online with remarks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payments via integrated payment links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support tickets &amp; track resolution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compliance status of all businesses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User/Admin without re-login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868680"/>
            <a:ext cx="54864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941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Vendor Portal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2344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acknowledge Purchase Orders online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invoices and delivery challans digitally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GRN status and pending approvals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payment history &amp; upcoming schedules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compliance &amp; KYC documents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RFQs &amp; submit quotations online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channel for queries &amp; updates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 validation &amp; MSME compliance tracking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914400"/>
            <a:ext cx="4572000" cy="45720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pic>
        <p:nvPicPr>
          <p:cNvPr id="6" name="Image 0" descr="/home/claude/logo_white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"/>
            <a:ext cx="1280160" cy="306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HOSTBOOKS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 ERP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Infinite Possibilities.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40480" y="2423160"/>
            <a:ext cx="1463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31+3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3152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83464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83464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93776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4088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04088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your business, amplify your success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www.hostbooks.com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HostBooks Agentic AI ERP - Feature List</dc:title>
  <dc:subject>PptxGenJS Presentation</dc:subject>
  <dc:creator>HostBooks</dc:creator>
  <cp:lastModifiedBy>HostBooks</cp:lastModifiedBy>
  <cp:revision>1</cp:revision>
  <dcterms:created xsi:type="dcterms:W3CDTF">2026-02-20T07:56:14Z</dcterms:created>
  <dcterms:modified xsi:type="dcterms:W3CDTF">2026-02-20T07:56:14Z</dcterms:modified>
</cp:coreProperties>
</file>